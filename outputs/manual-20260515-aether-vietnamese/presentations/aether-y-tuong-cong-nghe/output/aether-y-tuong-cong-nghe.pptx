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f54e7092474a66" /><Relationship Type="http://schemas.openxmlformats.org/officeDocument/2006/relationships/extended-properties" Target="/docProps/app.xml" Id="Rc01aee658424473f" /><Relationship Type="http://schemas.openxmlformats.org/officeDocument/2006/relationships/officeDocument" Target="/ppt/presentation.xml" Id="Re21c35fbc25d43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c59dabe7d54be7"/>
  </p:sldMasterIdLst>
  <p:notesMasterIdLst>
    <p:notesMasterId xmlns:r="http://schemas.openxmlformats.org/officeDocument/2006/relationships" r:id="Rf863fe07ce754a49"/>
  </p:notesMasterIdLst>
  <p:sldIdLst>
    <p:sldId xmlns:r="http://schemas.openxmlformats.org/officeDocument/2006/relationships" id="256" r:id="Re46100a9c3c3412e"/>
    <p:sldId xmlns:r="http://schemas.openxmlformats.org/officeDocument/2006/relationships" id="257" r:id="R3692c094be8547e8"/>
    <p:sldId xmlns:r="http://schemas.openxmlformats.org/officeDocument/2006/relationships" id="258" r:id="Ree475cb4efab4322"/>
    <p:sldId xmlns:r="http://schemas.openxmlformats.org/officeDocument/2006/relationships" id="259" r:id="R5d13e86000694c4f"/>
    <p:sldId xmlns:r="http://schemas.openxmlformats.org/officeDocument/2006/relationships" id="260" r:id="R6c5492086e324698"/>
    <p:sldId xmlns:r="http://schemas.openxmlformats.org/officeDocument/2006/relationships" id="261" r:id="Ra93f9604ace947c5"/>
    <p:sldId xmlns:r="http://schemas.openxmlformats.org/officeDocument/2006/relationships" id="262" r:id="R61c80ef01d7244ea"/>
    <p:sldId xmlns:r="http://schemas.openxmlformats.org/officeDocument/2006/relationships" id="263" r:id="Rf3a1d61857944b0f"/>
    <p:sldId xmlns:r="http://schemas.openxmlformats.org/officeDocument/2006/relationships" id="264" r:id="R925b364c7f3e494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c59dabe7d54be7" /><Relationship Type="http://schemas.openxmlformats.org/officeDocument/2006/relationships/theme" Target="/ppt/theme/theme1.xml" Id="R8a69f0e9492b4750" /><Relationship Type="http://schemas.openxmlformats.org/officeDocument/2006/relationships/notesMaster" Target="/ppt/notesMasters/notesMaster1.xml" Id="Rf863fe07ce754a49" /><Relationship Type="http://schemas.openxmlformats.org/officeDocument/2006/relationships/presProps" Target="/ppt/presProps.xml" Id="R6f92dd552d784f9e" /><Relationship Type="http://schemas.openxmlformats.org/officeDocument/2006/relationships/viewProps" Target="/ppt/viewProps.xml" Id="Rc861e501bb5d4668" /><Relationship Type="http://schemas.openxmlformats.org/officeDocument/2006/relationships/tableStyles" Target="/ppt/tableStyles.xml" Id="R3376ab44c3f14e02" /><Relationship Type="http://schemas.openxmlformats.org/officeDocument/2006/relationships/slide" Target="/ppt/slides/slide1.xml" Id="Re46100a9c3c3412e" /><Relationship Type="http://schemas.openxmlformats.org/officeDocument/2006/relationships/slide" Target="/ppt/slides/slide2.xml" Id="R3692c094be8547e8" /><Relationship Type="http://schemas.openxmlformats.org/officeDocument/2006/relationships/slide" Target="/ppt/slides/slide3.xml" Id="Ree475cb4efab4322" /><Relationship Type="http://schemas.openxmlformats.org/officeDocument/2006/relationships/slide" Target="/ppt/slides/slide4.xml" Id="R5d13e86000694c4f" /><Relationship Type="http://schemas.openxmlformats.org/officeDocument/2006/relationships/slide" Target="/ppt/slides/slide5.xml" Id="R6c5492086e324698" /><Relationship Type="http://schemas.openxmlformats.org/officeDocument/2006/relationships/slide" Target="/ppt/slides/slide6.xml" Id="Ra93f9604ace947c5" /><Relationship Type="http://schemas.openxmlformats.org/officeDocument/2006/relationships/slide" Target="/ppt/slides/slide7.xml" Id="R61c80ef01d7244ea" /><Relationship Type="http://schemas.openxmlformats.org/officeDocument/2006/relationships/slide" Target="/ppt/slides/slide8.xml" Id="Rf3a1d61857944b0f" /><Relationship Type="http://schemas.openxmlformats.org/officeDocument/2006/relationships/slide" Target="/ppt/slides/slide9.xml" Id="R925b364c7f3e49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e96eedd964645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1ba7ac69404183" /><Relationship Type="http://schemas.openxmlformats.org/officeDocument/2006/relationships/notesMaster" Target="/ppt/notesMasters/notesMaster1.xml" Id="R68f8701fa61a47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813d76bfa542fd" /><Relationship Type="http://schemas.openxmlformats.org/officeDocument/2006/relationships/notesMaster" Target="/ppt/notesMasters/notesMaster1.xml" Id="R00b88e2d314f4b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250bbac8024ecc" /><Relationship Type="http://schemas.openxmlformats.org/officeDocument/2006/relationships/notesMaster" Target="/ppt/notesMasters/notesMaster1.xml" Id="R2f9003bab88441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7075ce9bdf48bd" /><Relationship Type="http://schemas.openxmlformats.org/officeDocument/2006/relationships/notesMaster" Target="/ppt/notesMasters/notesMaster1.xml" Id="R649bfb05537547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f446c00a57429f" /><Relationship Type="http://schemas.openxmlformats.org/officeDocument/2006/relationships/notesMaster" Target="/ppt/notesMasters/notesMaster1.xml" Id="R5a98d34f17ec4a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183b9bc6da4bf4" /><Relationship Type="http://schemas.openxmlformats.org/officeDocument/2006/relationships/notesMaster" Target="/ppt/notesMasters/notesMaster1.xml" Id="R751d7e697be84a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e96e0d4f254211" /><Relationship Type="http://schemas.openxmlformats.org/officeDocument/2006/relationships/notesMaster" Target="/ppt/notesMasters/notesMaster1.xml" Id="Ra6eb40fa384144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86565cc9094f10" /><Relationship Type="http://schemas.openxmlformats.org/officeDocument/2006/relationships/notesMaster" Target="/ppt/notesMasters/notesMaster1.xml" Id="R8f91c7b0794744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26e1bf4f224380" /><Relationship Type="http://schemas.openxmlformats.org/officeDocument/2006/relationships/notesMaster" Target="/ppt/notesMasters/notesMaster1.xml" Id="R10dc0076d2de48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90e830ee342b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a794e7193c4491b" /><Relationship Type="http://schemas.openxmlformats.org/officeDocument/2006/relationships/slideLayout" Target="/ppt/slideLayouts/slideLayout2.xml" Id="Rb0d883c925ab4e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d883c925ab4e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7b4029e9b74b78" /><Relationship Type="http://schemas.openxmlformats.org/officeDocument/2006/relationships/notesSlide" Target="/ppt/notesSlides/notesSlide1.xml" Id="R5ac254a4c0184b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d8218c80af4027" /><Relationship Type="http://schemas.openxmlformats.org/officeDocument/2006/relationships/notesSlide" Target="/ppt/notesSlides/notesSlide2.xml" Id="R528be54551b74c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5a3293c9c74e42" /><Relationship Type="http://schemas.openxmlformats.org/officeDocument/2006/relationships/image" Target="/ppt/media/image.png" Id="R238d14212a4b4ef7" /><Relationship Type="http://schemas.openxmlformats.org/officeDocument/2006/relationships/image" Target="/ppt/media/image.svg" Id="Ra971a0266f5c4382" /><Relationship Type="http://schemas.openxmlformats.org/officeDocument/2006/relationships/image" Target="/ppt/media/image2.png" Id="Rc4983630fed14ebc" /><Relationship Type="http://schemas.openxmlformats.org/officeDocument/2006/relationships/image" Target="/ppt/media/image2.svg" Id="R4f62259e83d04cd0" /><Relationship Type="http://schemas.openxmlformats.org/officeDocument/2006/relationships/image" Target="/ppt/media/image3.png" Id="R325f17bb6ff64725" /><Relationship Type="http://schemas.openxmlformats.org/officeDocument/2006/relationships/image" Target="/ppt/media/image3.svg" Id="R3318921c819e4651" /><Relationship Type="http://schemas.openxmlformats.org/officeDocument/2006/relationships/image" Target="/ppt/media/image4.png" Id="R18230bc781894a92" /><Relationship Type="http://schemas.openxmlformats.org/officeDocument/2006/relationships/image" Target="/ppt/media/image4.svg" Id="R93f49f16065f4ced" /><Relationship Type="http://schemas.openxmlformats.org/officeDocument/2006/relationships/notesSlide" Target="/ppt/notesSlides/notesSlide3.xml" Id="Rcc9abdb2bef144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3dc9451215437b" /><Relationship Type="http://schemas.openxmlformats.org/officeDocument/2006/relationships/image" Target="/ppt/media/image5.png" Id="R24ea3f2fe73e40ea" /><Relationship Type="http://schemas.openxmlformats.org/officeDocument/2006/relationships/image" Target="/ppt/media/image5.svg" Id="Ra8df41404fec496d" /><Relationship Type="http://schemas.openxmlformats.org/officeDocument/2006/relationships/image" Target="/ppt/media/image6.png" Id="R4917b81a28644640" /><Relationship Type="http://schemas.openxmlformats.org/officeDocument/2006/relationships/image" Target="/ppt/media/image6.svg" Id="R2634a37898a74529" /><Relationship Type="http://schemas.openxmlformats.org/officeDocument/2006/relationships/image" Target="/ppt/media/image7.png" Id="Rb9f427a96dda4472" /><Relationship Type="http://schemas.openxmlformats.org/officeDocument/2006/relationships/image" Target="/ppt/media/image7.svg" Id="R84e4f396567d455b" /><Relationship Type="http://schemas.openxmlformats.org/officeDocument/2006/relationships/image" Target="/ppt/media/image8.png" Id="R0d3af66288de48ce" /><Relationship Type="http://schemas.openxmlformats.org/officeDocument/2006/relationships/image" Target="/ppt/media/image8.svg" Id="R06417aa648e84df6" /><Relationship Type="http://schemas.openxmlformats.org/officeDocument/2006/relationships/notesSlide" Target="/ppt/notesSlides/notesSlide4.xml" Id="R2e563d7aead54a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3043798829491a" /><Relationship Type="http://schemas.openxmlformats.org/officeDocument/2006/relationships/image" Target="/ppt/media/image9.png" Id="R7ceac9a87dce433d" /><Relationship Type="http://schemas.openxmlformats.org/officeDocument/2006/relationships/image" Target="/ppt/media/image9.svg" Id="Rab82d4bb891d4613" /><Relationship Type="http://schemas.openxmlformats.org/officeDocument/2006/relationships/image" Target="/ppt/media/image10.png" Id="R799a5c870af045af" /><Relationship Type="http://schemas.openxmlformats.org/officeDocument/2006/relationships/image" Target="/ppt/media/image10.svg" Id="Rccd0193c29c5415e" /><Relationship Type="http://schemas.openxmlformats.org/officeDocument/2006/relationships/image" Target="/ppt/media/image11.png" Id="Rc17471bc07624a7a" /><Relationship Type="http://schemas.openxmlformats.org/officeDocument/2006/relationships/image" Target="/ppt/media/image11.svg" Id="Rde14401370a841be" /><Relationship Type="http://schemas.openxmlformats.org/officeDocument/2006/relationships/image" Target="/ppt/media/image12.png" Id="R071d76ef501d43dc" /><Relationship Type="http://schemas.openxmlformats.org/officeDocument/2006/relationships/image" Target="/ppt/media/image12.svg" Id="Rbfb029ec40ee4419" /><Relationship Type="http://schemas.openxmlformats.org/officeDocument/2006/relationships/image" Target="/ppt/media/image13.png" Id="Ra203215f95a745fc" /><Relationship Type="http://schemas.openxmlformats.org/officeDocument/2006/relationships/image" Target="/ppt/media/image13.svg" Id="Ra0f62f83693e4216" /><Relationship Type="http://schemas.openxmlformats.org/officeDocument/2006/relationships/image" Target="/ppt/media/image14.png" Id="R090f3fc37ebd4300" /><Relationship Type="http://schemas.openxmlformats.org/officeDocument/2006/relationships/image" Target="/ppt/media/image14.svg" Id="Ra3e940ae88a94615" /><Relationship Type="http://schemas.openxmlformats.org/officeDocument/2006/relationships/notesSlide" Target="/ppt/notesSlides/notesSlide5.xml" Id="R0fd3b627047d4c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42c674ccde4558" /><Relationship Type="http://schemas.openxmlformats.org/officeDocument/2006/relationships/image" Target="/ppt/media/image15.png" Id="R72570781cc984fa2" /><Relationship Type="http://schemas.openxmlformats.org/officeDocument/2006/relationships/image" Target="/ppt/media/image15.svg" Id="R19b3dc57a8274c5c" /><Relationship Type="http://schemas.openxmlformats.org/officeDocument/2006/relationships/image" Target="/ppt/media/image16.png" Id="Rc0c59abd3ba849c0" /><Relationship Type="http://schemas.openxmlformats.org/officeDocument/2006/relationships/image" Target="/ppt/media/image16.svg" Id="R19a88b54f80e4a3c" /><Relationship Type="http://schemas.openxmlformats.org/officeDocument/2006/relationships/image" Target="/ppt/media/image17.png" Id="R0fb5158e099443eb" /><Relationship Type="http://schemas.openxmlformats.org/officeDocument/2006/relationships/image" Target="/ppt/media/image17.svg" Id="Rf1a0494ab8ec4ce5" /><Relationship Type="http://schemas.openxmlformats.org/officeDocument/2006/relationships/image" Target="/ppt/media/image18.png" Id="Ra745659374724221" /><Relationship Type="http://schemas.openxmlformats.org/officeDocument/2006/relationships/image" Target="/ppt/media/image18.svg" Id="R949166be28f34826" /><Relationship Type="http://schemas.openxmlformats.org/officeDocument/2006/relationships/image" Target="/ppt/media/image19.png" Id="R37420a1d72e64603" /><Relationship Type="http://schemas.openxmlformats.org/officeDocument/2006/relationships/image" Target="/ppt/media/image19.svg" Id="Raf7a46e3767c4d77" /><Relationship Type="http://schemas.openxmlformats.org/officeDocument/2006/relationships/image" Target="/ppt/media/image20.png" Id="Rcbd2476dbb224c08" /><Relationship Type="http://schemas.openxmlformats.org/officeDocument/2006/relationships/image" Target="/ppt/media/image20.svg" Id="Rc26d15a0becf4692" /><Relationship Type="http://schemas.openxmlformats.org/officeDocument/2006/relationships/notesSlide" Target="/ppt/notesSlides/notesSlide6.xml" Id="R82f8a5bf84144e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f3ab35d0004c28" /><Relationship Type="http://schemas.openxmlformats.org/officeDocument/2006/relationships/image" Target="/ppt/media/image21.png" Id="R9981ac125e514e7c" /><Relationship Type="http://schemas.openxmlformats.org/officeDocument/2006/relationships/image" Target="/ppt/media/image21.svg" Id="Rfc38ec932f9f4508" /><Relationship Type="http://schemas.openxmlformats.org/officeDocument/2006/relationships/image" Target="/ppt/media/image22.png" Id="R248a33bad655445b" /><Relationship Type="http://schemas.openxmlformats.org/officeDocument/2006/relationships/image" Target="/ppt/media/image22.svg" Id="R63f751d0bc964ee1" /><Relationship Type="http://schemas.openxmlformats.org/officeDocument/2006/relationships/image" Target="/ppt/media/image23.png" Id="R1517aab9afb34dc6" /><Relationship Type="http://schemas.openxmlformats.org/officeDocument/2006/relationships/image" Target="/ppt/media/image23.svg" Id="Rabca12d5130d4cd3" /><Relationship Type="http://schemas.openxmlformats.org/officeDocument/2006/relationships/image" Target="/ppt/media/image24.png" Id="Re36d628de79c4c3c" /><Relationship Type="http://schemas.openxmlformats.org/officeDocument/2006/relationships/image" Target="/ppt/media/image24.svg" Id="R9f542ba808ea43e3" /><Relationship Type="http://schemas.openxmlformats.org/officeDocument/2006/relationships/notesSlide" Target="/ppt/notesSlides/notesSlide7.xml" Id="R7ec748a367154e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53922e56ee4070" /><Relationship Type="http://schemas.openxmlformats.org/officeDocument/2006/relationships/notesSlide" Target="/ppt/notesSlides/notesSlide8.xml" Id="Rdd88543e53eb43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659a5487274fc7" /><Relationship Type="http://schemas.openxmlformats.org/officeDocument/2006/relationships/notesSlide" Target="/ppt/notesSlides/notesSlide9.xml" Id="R5879e60166fc461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95A641-B99C-4253-AB78-0F40C1B5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18"/>
              </a:gs>
              <a:gs pos="62000">
                <a:srgbClr val="0D1B24"/>
              </a:gs>
              <a:gs pos="100000">
                <a:srgbClr val="102A36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70A05-6F72-4C8D-8162-3B849721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C5BBE-E783-496C-9609-8EA4A94D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39787-DAFC-45AD-8F77-D5D9610A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FDD47-C58A-4092-B833-1C95EEAF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69DBA-EB32-4573-9928-AA2E507B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AF8A5-6650-4F42-97B7-FE07900E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05A8C-BA86-4A02-8DFF-B8760C5F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17A32-B451-438E-9021-69CC2CAB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FF3C4-AFB6-471F-AE31-CD221D39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AE76B-625C-47F8-B0BC-C6EDEE4E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206AB-1238-4046-AFDD-F42A91DE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9B069D-A46F-4E0B-A497-3FA71819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F108F3-885A-4A6E-9BFF-0ADD6FD3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C449A3-E7FE-424A-A757-1830ACC4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85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897635-AB6B-44EA-B2BB-B59BCAAC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05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097A91-A769-477F-914D-C34CDA91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24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F0E86-B067-4950-B259-2A2C9B0F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3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514B33-9F49-4972-A198-076277D7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6332B3-B685-4724-912D-2B00AD54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8382BC-693F-4EC5-A99E-5874AC25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7A3B10-0D4F-40FB-AF34-A8A6E64D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514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AETHER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4A125F-7855-4FC5-A7AF-2356A26B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600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Website mạng xã hội bản đồ cho khám phá địa điểm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858BD9-A977-4C30-B5EB-2C7994F9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619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0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Ý tưởng: biến bản đồ từ công cụ tìm đường thành không gian cộng đồng, nơi người dùng khám phá, chia sẻ, nhận gợi ý AI và được khuyến khích quay lại bằng hệ thống điểm thưởng.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DA3B10-70AB-4F90-ACB3-CDD654A9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239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FF">
              <a:alpha val="7059"/>
            </a:srgbClr>
          </a:solidFill>
          <a:ln xmlns:a="http://schemas.openxmlformats.org/drawingml/2006/main" w="9525">
            <a:solidFill>
              <a:srgbClr val="00E5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CA04B6-2093-4B33-AE00-55B222A4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9545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>
              <a:alpha val="9412"/>
            </a:srgbClr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72C061-6A1B-4402-825C-0CC32A54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00150"/>
            <a:ext cx="38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A5B207-1FBB-4D2A-A1A7-8D802599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33650"/>
            <a:ext cx="2705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F0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B09F8E-64FD-4661-83D8-2B4FEAC3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5903B4-D7D9-471B-8FE6-45F240E6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E5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0E5FF"/>
                </a:solidFill>
                <a:latin typeface="Aptos Display"/>
                <a:ea typeface="Aptos Display"/>
                <a:cs typeface="Aptos Display"/>
              </a:rPr>
              <a:t>Ý tưởng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4F5C1A-DB36-44C9-9CBF-E31751B9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FB0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B0BD"/>
                </a:solidFill>
                <a:latin typeface="Aptos"/>
                <a:ea typeface="Aptos"/>
                <a:cs typeface="Aptos"/>
              </a:rPr>
              <a:t>Bản đồ kết hợp mạng xã hội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DFC9B1-C7FD-469E-A2F7-F866BF77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435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B7B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9B7BFF"/>
                </a:solidFill>
                <a:latin typeface="Aptos Display"/>
                <a:ea typeface="Aptos Display"/>
                <a:cs typeface="Aptos Display"/>
              </a:rPr>
              <a:t>AI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CD2CAD-7186-4080-900D-7EC0F491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6007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FB0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B0BD"/>
                </a:solidFill>
                <a:latin typeface="Aptos"/>
                <a:ea typeface="Aptos"/>
                <a:cs typeface="Aptos"/>
              </a:rPr>
              <a:t>EVE gợi ý địa điểm và lịch trình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3AC14C-4C69-4328-A347-E60AE808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435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5F0A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55F0A6"/>
                </a:solidFill>
                <a:latin typeface="Aptos Display"/>
                <a:ea typeface="Aptos Display"/>
                <a:cs typeface="Aptos Display"/>
              </a:rPr>
              <a:t>Realtime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771118-80FB-4C80-858F-1D53AE75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007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FB0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B0BD"/>
                </a:solidFill>
                <a:latin typeface="Aptos"/>
                <a:ea typeface="Aptos"/>
                <a:cs typeface="Aptos"/>
              </a:rPr>
              <a:t>Thông báo, bình luận, trạng thái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7105E7-99DF-478D-B2E1-8932CDA7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435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rPr>
              <a:t>Game hóa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751885-3800-40F6-B379-AF29B078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007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FB0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B0BD"/>
                </a:solidFill>
                <a:latin typeface="Aptos"/>
                <a:ea typeface="Aptos"/>
                <a:cs typeface="Aptos"/>
              </a:rPr>
              <a:t>XP, level, achievement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D0994E-45FE-4720-A2F2-082CEFAC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0DC08F-F3F2-458F-8032-233684C7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93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93A1"/>
                </a:solidFill>
                <a:latin typeface="Aptos"/>
                <a:ea typeface="Aptos"/>
                <a:cs typeface="Aptos"/>
              </a:rPr>
              <a:t>Nguồn: tài liệu dự án AETHER và repository hiện tại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6DF7E1-D49E-44E1-A7BF-35DFF1D1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48783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A90014-1ED6-497A-A6C3-6B2CAA0B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18"/>
              </a:gs>
              <a:gs pos="62000">
                <a:srgbClr val="0D1B24"/>
              </a:gs>
              <a:gs pos="100000">
                <a:srgbClr val="102A36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E3834-1C93-454B-9AD0-BDBF8D6D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CBFADF-E4FC-4620-BDDF-6E7C5235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50A54-9FBF-4E51-8FCD-BFD2803E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FE8F8-A60C-4CC1-8CD2-C94834C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D2D98-2F84-44F0-A02E-7E70F76F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25C8C-D024-4373-A469-71F40A8E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B81C0-9E84-4F0D-9122-EBF98AA8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405CAF-ABE0-4A74-8AB8-FCF0215B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94FA57-3E96-4080-8267-88C43AD6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451A8A-B2E5-46F1-86B9-3D7A1E03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5CB2C-0A98-42D0-B5C7-004402D4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699042-AC76-49FC-B4A8-5F83B90A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4A411-15E1-4E5A-95B6-6E1788E0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FEC029-1B01-422A-BECC-4CFAE031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85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634605-5627-44A6-A4C4-D71AA520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05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347D85-81EA-48F6-9DAD-E5D855EC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24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F00941-8D71-4042-843D-CF93EAF7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3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BEB7DB-AC43-4587-ABE9-9DF8492F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14F2F8-092C-43DA-9D91-4D9C9DAC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A6D68E-BB19-4748-BD6D-4736B042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5EBBFE34-1B66-490A-8154-D3129562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C7F20C49-3B0A-4A10-AD55-639CC133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BỐI CẢNH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640AA8-38D4-4FF0-8169-5D5DF8DD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Khám phá địa điểm hiện vẫn rời rạc và thiếu tính cộng đồng.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D75D9F-1EB9-4951-9CE0-99ACC2C9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476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60F18">
              <a:alpha val="86667"/>
            </a:srgbClr>
          </a:solidFill>
          <a:ln xmlns:a="http://schemas.openxmlformats.org/drawingml/2006/main" w="9525">
            <a:solidFill>
              <a:srgbClr val="FF6B7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FE4B65-6CCC-49E9-98B4-205D156F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7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6B7A"/>
                </a:solidFill>
                <a:latin typeface="Aptos Display"/>
                <a:ea typeface="Aptos Display"/>
                <a:cs typeface="Aptos Display"/>
              </a:rPr>
              <a:t>Vấn đề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DB3157-6031-4C4E-90AE-DF7B1B9B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71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F2D6A7-7C4E-4C42-8465-2B685780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76625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Ứng dụng bản đồ chủ yếu phục vụ tìm đường và xem review.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61BC73-611F-4332-83BA-FB3FD5F6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87DF1E-3D86-409F-93B8-56BC1E41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0050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Người dùng khó kết nối với người có cùng sở thích địa điểm.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0B8446-A4EA-4820-9AB1-D6FD913F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9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68C78F-D645-4ECF-BBE8-3C396439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24375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Gợi ý địa điểm chưa đủ cá nhân hóa theo vị trí, thời tiết, lịch trình.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2B1B8C-C72F-4CA9-945E-1DD5F5D6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338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997063-949A-404A-B51A-94E9851D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29025"/>
            <a:ext cx="17145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B864AD-4324-4A59-A4F6-0DBB7BAA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71750"/>
            <a:ext cx="4476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0B1E23">
              <a:alpha val="90196"/>
            </a:srgbClr>
          </a:solidFill>
          <a:ln xmlns:a="http://schemas.openxmlformats.org/drawingml/2006/main" w="9525">
            <a:solidFill>
              <a:srgbClr val="00E5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CE7D30-D6CE-47DA-A70C-EAF31007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575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E5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0E5FF"/>
                </a:solidFill>
                <a:latin typeface="Aptos Display"/>
                <a:ea typeface="Aptos Display"/>
                <a:cs typeface="Aptos Display"/>
              </a:rPr>
              <a:t>Cơ hội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1C7745-FF8D-4AF6-A190-AEA4ADFC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71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1B482A-0B48-438C-92DD-2F22CAF4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76625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Dùng bản đồ làm giao diện trung tâm cho khám phá.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D4F275-1D27-4C83-816D-4CEEEB02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95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F0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19B62C-F58F-4860-B086-F418430B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0050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Đưa tương tác xã hội vào từng địa điểm: like, bình luận, follow.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68B27D-9DE3-44C5-AE2A-3C6C15E2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19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27C853-BBEA-49DB-85DE-A61D76C9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24375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Dùng AI để biến ngữ cảnh thành lịch trình cụ thể.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EB758C-3203-4786-BD29-B43BE7F7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2A515E-3332-45F3-A219-4165D0BA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93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93A1"/>
                </a:solidFill>
                <a:latin typeface="Aptos"/>
                <a:ea typeface="Aptos"/>
                <a:cs typeface="Aptos"/>
              </a:rPr>
              <a:t>Nguồn: tài liệu dự án AETHER và repository hiện tại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8A5E97-D19A-4A30-9699-6D8D10C6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406352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744050-1FE2-4787-8153-6F8DDEF4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18"/>
              </a:gs>
              <a:gs pos="62000">
                <a:srgbClr val="0D1B24"/>
              </a:gs>
              <a:gs pos="100000">
                <a:srgbClr val="102A36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41379-5931-49F6-9B4E-22C88F33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50E22-7185-4D78-95A9-83C13A84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40A69-ECE5-4E32-BFD5-47AF5873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EC191-8BB7-4933-BE13-9405518C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50D3A-B35E-4CE7-AC11-22133DA3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2294C-B025-4D61-BAE7-4A6DDEFA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BB1F9-15D6-4C35-B7FA-C1EB5089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72050-B669-4058-AB5B-650155B7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1E45A-F7F1-48E5-B740-CB123AD4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8E900-6551-4E7D-81D2-A316719D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623C07-91F4-4383-90E2-AEAB7201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F433A-6532-4361-8D82-9BE436A2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B2E852-57B7-4F08-9200-99236D21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8B616F-04AA-4186-BFA8-965503FA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85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B9880A-B974-45CF-929E-F52414B5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05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865CE8-C2AA-4071-9E41-E406565B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24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0E12B2-D24C-4033-B80D-CCC9F001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3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089CC5-B694-4647-907E-A2257ECB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6A2355-4580-4A39-84D3-269551DA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748250-DE8C-4D11-8F06-7B1AA0E4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A59CB6EB-EA9C-46C9-B217-B45880EE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5036941F-50FC-4218-8FB3-3880BD71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GIẢI PHÁP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8734E2-748A-41A8-B275-03D21C19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AETHER kết hợp bốn lớp để tạo trải nghiệm khám phá liền mạch.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93CF14-D9F2-4761-80F2-340094D5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D1B24">
              <a:alpha val="87059"/>
            </a:srgbClr>
          </a:solidFill>
          <a:ln xmlns:a="http://schemas.openxmlformats.org/drawingml/2006/main" w="9525">
            <a:solidFill>
              <a:srgbClr val="00E5F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d14212a4b4ef7">
            <a:extLst>
              <a:ext uri="{96DAC541-7B7A-43D3-8B79-37D633B846F1}">
                <asvg:svgBlip xmlns:asvg="http://schemas.microsoft.com/office/drawing/2016/SVG/main" r:embed="Ra971a0266f5c43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23950" y="30289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319DB1-75B9-46ED-A854-7A8B6B5A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957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E5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0E5FF"/>
                </a:solidFill>
                <a:latin typeface="Aptos Display"/>
                <a:ea typeface="Aptos Display"/>
                <a:cs typeface="Aptos Display"/>
              </a:rPr>
              <a:t>Bản đồ tương tác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3457B5-6D31-4172-AF8E-BAFA831A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00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MapLibre + Goong Maps, cluster, route, GPS, weather overlay.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B0F9D5-7323-43EC-9E89-51A1DB00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24150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D1B24">
              <a:alpha val="87059"/>
            </a:srgbClr>
          </a:solidFill>
          <a:ln xmlns:a="http://schemas.openxmlformats.org/drawingml/2006/main" w="9525">
            <a:solidFill>
              <a:srgbClr val="55F0A6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83630fed14ebc">
            <a:extLst>
              <a:ext uri="{96DAC541-7B7A-43D3-8B79-37D633B846F1}">
                <asvg:svgBlip xmlns:asvg="http://schemas.microsoft.com/office/drawing/2016/SVG/main" r:embed="R4f62259e83d04cd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67150" y="30289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126016-FBE5-4BFA-ADB0-4146AEC6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957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5F0A6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55F0A6"/>
                </a:solidFill>
                <a:latin typeface="Aptos Display"/>
                <a:ea typeface="Aptos Display"/>
                <a:cs typeface="Aptos Display"/>
              </a:rPr>
              <a:t>Mạng xã hội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F9E7D7-138E-4819-B894-D65F0265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100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Like, bình luận, follow, tin nhắn, feed cộng đồng và thông báo realtime.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FA21CB-67B1-439A-A444-A8D018DB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D1B24">
              <a:alpha val="87059"/>
            </a:srgbClr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f17bb6ff64725">
            <a:extLst>
              <a:ext uri="{96DAC541-7B7A-43D3-8B79-37D633B846F1}">
                <asvg:svgBlip xmlns:asvg="http://schemas.microsoft.com/office/drawing/2016/SVG/main" r:embed="R3318921c819e46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10350" y="30289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1DEF1B-9273-415D-887B-ABD34584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957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B7B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9B7BFF"/>
                </a:solidFill>
                <a:latin typeface="Aptos Display"/>
                <a:ea typeface="Aptos Display"/>
                <a:cs typeface="Aptos Display"/>
              </a:rPr>
              <a:t>AI EVE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AC7976-DCA4-4002-A13F-F2479699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100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Trợ lý gợi ý địa điểm, tạo lịch trình và vẽ route theo ngữ cảnh.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EEB613-0E1B-4D3C-B4E4-F3B5C47D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24150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D1B24">
              <a:alpha val="87059"/>
            </a:srgbClr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30bc781894a92">
            <a:extLst>
              <a:ext uri="{96DAC541-7B7A-43D3-8B79-37D633B846F1}">
                <asvg:svgBlip xmlns:asvg="http://schemas.microsoft.com/office/drawing/2016/SVG/main" r:embed="R93f49f16065f4c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353550" y="30289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9E763D-A07B-433D-831B-01B4FE84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957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rPr>
              <a:t>Gamification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9B5E64-C4E9-4376-AE8F-13DD0AF6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100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XP, level, tier, achievement và daily task để tăng động lực quay lại.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C312CA-1C89-45EF-A99C-9B8C03E0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10200"/>
            <a:ext cx="885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Thông điệp chính: website không chỉ hiển thị địa điểm, mà tạo một vòng lặp khám phá → chia sẻ → nhận gợi ý → quay lại.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6FB17A-F7C1-41A7-A3E0-DDAD056A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00C4C6-4CF6-4B1E-A365-EAA44C01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93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93A1"/>
                </a:solidFill>
                <a:latin typeface="Aptos"/>
                <a:ea typeface="Aptos"/>
                <a:cs typeface="Aptos"/>
              </a:rPr>
              <a:t>Nguồn: tài liệu dự án AETHER và repository hiện tại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BC1FB7-A5B8-4B57-B6BC-78301C80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487767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C2A172-EEE8-4506-B7F1-DAB8C9CC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18"/>
              </a:gs>
              <a:gs pos="62000">
                <a:srgbClr val="0D1B24"/>
              </a:gs>
              <a:gs pos="100000">
                <a:srgbClr val="102A36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AB2D1-AA53-4491-8659-E690E2A5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72736-0A93-4C1A-87F2-C62D602D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C4AF9-A370-482D-ADDF-97A944E4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20BB0-D5C4-416E-BB48-6DC6027E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60DA36-AEFB-4945-A872-A508A3ED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AF649-5B36-48BC-9F81-7484223E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CF680-0F71-42C4-8867-C4474D1E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3ABC9-C22C-47C4-BA4B-936AD4CF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877F6-BFFE-4577-AEBB-3DACE705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211FC-1E6D-4697-9AC1-291759E8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ED954F-2D47-4874-81EA-F334E74E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7BB0C3-D4DF-4AA2-B80E-FDFA8150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C21D32-095B-4567-8673-4C5E049A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5C3091-DB36-4258-8874-BE73E4DC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85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2A39F8-A5C1-4A6D-A6EF-836E487A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05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2C32AA-6222-4193-AE6F-618B80B4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24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C02926-22A7-4E7A-A61C-FCCD4026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3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14D60D-2A56-4E3D-906F-CE0548D9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E76F02-5366-4AC5-BDA0-A9719E75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F8DEEF-F83A-42E3-A966-D0813068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C5F96F85-C02A-4B6C-A33E-927C2945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2156C617-7080-4B03-82DD-E8F4E879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LUỒNG TRẢI NGHIỆM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452823-A3F5-41CC-B04A-4ECF8BC1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Người dùng bắt đầu từ bản đồ, nhưng giá trị nằm ở vòng lặp cộng đồng.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46F657-07C3-42B4-A8A2-8F885A1E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428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D1B24">
              <a:alpha val="87059"/>
            </a:srgbClr>
          </a:solidFill>
          <a:ln xmlns:a="http://schemas.openxmlformats.org/drawingml/2006/main" w="9525">
            <a:solidFill>
              <a:srgbClr val="00E5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730045-B59B-4EA7-B5C1-C4AD807F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a3f2fe73e40ea">
            <a:extLst>
              <a:ext uri="{96DAC541-7B7A-43D3-8B79-37D633B846F1}">
                <asvg:svgBlip xmlns:asvg="http://schemas.microsoft.com/office/drawing/2016/SVG/main" r:embed="Ra8df41404fec496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457450" y="2857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99C5CD-E154-422E-AB0B-1D38025C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Mở bản đồ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EB85E7-7B58-450D-BD33-91B5A2D8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B0B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FB0BD"/>
                </a:solidFill>
                <a:latin typeface="Aptos"/>
                <a:ea typeface="Aptos"/>
                <a:cs typeface="Aptos"/>
              </a:rPr>
              <a:t>Xem vị trí hiện tại, marker, cluster và lớp thời tiết.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C742F9-8203-41DB-9FA7-27B6ECD1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7909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620A61-A69C-4267-A5C0-E6E5D323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28900"/>
            <a:ext cx="2428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D1B24">
              <a:alpha val="87059"/>
            </a:srgbClr>
          </a:solidFill>
          <a:ln xmlns:a="http://schemas.openxmlformats.org/drawingml/2006/main" w="9525">
            <a:solidFill>
              <a:srgbClr val="55F0A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6795EE-F24F-4042-898C-D967DE17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765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5F0A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5F0A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7b81a28644640">
            <a:extLst>
              <a:ext uri="{96DAC541-7B7A-43D3-8B79-37D633B846F1}">
                <asvg:svgBlip xmlns:asvg="http://schemas.microsoft.com/office/drawing/2016/SVG/main" r:embed="R2634a37898a7452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57800" y="2857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F1CA99-642B-48C4-AFFE-32CEB364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052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Khám phá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D4AFCC-374A-4B42-A6C7-1F637EED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19550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B0B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FB0BD"/>
                </a:solidFill>
                <a:latin typeface="Aptos"/>
                <a:ea typeface="Aptos"/>
                <a:cs typeface="Aptos"/>
              </a:rPr>
              <a:t>Click địa điểm, xem ảnh, review, bình luận và người đăng.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3231A8-5934-4F13-9B04-1D9EF156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7909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F0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C2BAFE-4F80-4DE5-BD2C-0F966358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28900"/>
            <a:ext cx="2428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D1B24">
              <a:alpha val="87059"/>
            </a:srgbClr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9CC920-A39E-4183-8136-6C22102D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765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B7B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9B7B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427a96dda4472">
            <a:extLst>
              <a:ext uri="{96DAC541-7B7A-43D3-8B79-37D633B846F1}">
                <asvg:svgBlip xmlns:asvg="http://schemas.microsoft.com/office/drawing/2016/SVG/main" r:embed="R84e4f396567d455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58150" y="2857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F5A052-0BE0-4988-ACF2-659A61EA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052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Hỏi EVE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F60123-A302-4402-8163-D2869F1B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19550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B0B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FB0BD"/>
                </a:solidFill>
                <a:latin typeface="Aptos"/>
                <a:ea typeface="Aptos"/>
                <a:cs typeface="Aptos"/>
              </a:rPr>
              <a:t>Nhập nhu cầu, AI gợi ý địa điểm và tạo lịch trình.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6B25AA-B0EF-4118-A9B9-EFC7FC14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909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67F894-DDA5-4C7B-B503-557932A3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28900"/>
            <a:ext cx="2428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D1B24">
              <a:alpha val="87059"/>
            </a:srgbClr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CE0188-E8F1-44BF-BD5F-FF57C770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765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af66288de48ce">
            <a:extLst>
              <a:ext uri="{96DAC541-7B7A-43D3-8B79-37D633B846F1}">
                <asvg:svgBlip xmlns:asvg="http://schemas.microsoft.com/office/drawing/2016/SVG/main" r:embed="R06417aa648e84d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58500" y="28575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A0C91C5-6354-400B-97D7-B68A3A43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052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Chia sẻ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C61760-4C76-4789-A03C-488C7494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19550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B0B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FB0BD"/>
                </a:solidFill>
                <a:latin typeface="Aptos"/>
                <a:ea typeface="Aptos"/>
                <a:cs typeface="Aptos"/>
              </a:rPr>
              <a:t>Đăng địa điểm, like, follow và nhận thông báo realtime.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78DC5F4-B509-4F09-8DF8-6DCD54F5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C0894D8-A215-4C79-A102-5B38951D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93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93A1"/>
                </a:solidFill>
                <a:latin typeface="Aptos"/>
                <a:ea typeface="Aptos"/>
                <a:cs typeface="Aptos"/>
              </a:rPr>
              <a:t>Nguồn: tài liệu dự án AETHER và repository hiện tại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9A2D371-087B-4808-A756-260C4827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706890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2228E2-12FF-4494-A07A-11BD4E43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18"/>
              </a:gs>
              <a:gs pos="62000">
                <a:srgbClr val="0D1B24"/>
              </a:gs>
              <a:gs pos="100000">
                <a:srgbClr val="102A36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396CA-ADA6-4BE5-89F3-76CB39EA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4C26D-F6FC-43FD-A7DE-54EF65F9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F40B4-37E6-4724-8FD6-44768E8B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66C97-6664-4279-AF29-6862CAA0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66BEC-6E4F-47EE-91AA-63688A83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32C92-A2E9-4022-8FE5-11BFA002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EAF6E-7799-45B2-808C-C4FF0FCD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7CA9D4-D66D-4363-9F7E-8E2CEBC4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B5628-7FF3-4635-BE63-7C4A401D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27EB13-4682-4E4D-A93C-E1104F7C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47791-9B4C-47AE-BFF4-1A546F24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35EC04-8AAE-409C-A038-F22E9578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2379A1-A64B-475A-9CCB-89927CA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0404F9-871A-4599-BAC9-4F4D1661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85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6798DE-7DD4-422E-94FB-AA802172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05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3BBEF6-E5EF-4F6D-85E0-11EE09B4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24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6788BB-D017-403D-979B-0B75109F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3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78979B-4BE3-4F43-8502-857EABF4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F7AAC3-AEB3-4103-98FF-9D904188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FB5C25-711E-4F67-89C9-189AAA61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B360475B-9D9C-4543-9A29-5A6B0443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50831ABE-59C7-4B91-8659-188BFA49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CÔNG NGHỆ FRONTEND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B6520E-1041-40C2-9FDA-F39471CF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Frontend được xây theo hướng realtime, mobile-first và tối ưu bản đồ.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BF655C-EB42-4951-9F96-6806D7C5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4857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D1B24">
              <a:alpha val="87059"/>
            </a:srgbClr>
          </a:solidFill>
          <a:ln xmlns:a="http://schemas.openxmlformats.org/drawingml/2006/main" w="9525">
            <a:solidFill>
              <a:srgbClr val="00E5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48B69A-C15F-4D01-9A5C-ECA50AA4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527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E5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E5FF"/>
                </a:solidFill>
                <a:latin typeface="Aptos Display"/>
                <a:ea typeface="Aptos Display"/>
                <a:cs typeface="Aptos Display"/>
              </a:rPr>
              <a:t>Stack chính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eac9a87dce433d">
            <a:extLst>
              <a:ext uri="{96DAC541-7B7A-43D3-8B79-37D633B846F1}">
                <asvg:svgBlip xmlns:asvg="http://schemas.microsoft.com/office/drawing/2016/SVG/main" r:embed="Rab82d4bb891d461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62050" y="31908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CDA356-725A-4671-BB70-692BA265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432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AF7FA"/>
                </a:solidFill>
                <a:latin typeface="Aptos"/>
                <a:ea typeface="Aptos"/>
                <a:cs typeface="Aptos"/>
              </a:rPr>
              <a:t>React 19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A4F6BA-DC9B-4D9B-9789-C814FB66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385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FB0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B0BD"/>
                </a:solidFill>
                <a:latin typeface="Aptos"/>
                <a:ea typeface="Aptos"/>
                <a:cs typeface="Aptos"/>
              </a:rPr>
              <a:t>Xây UI theo component và quản lý trạng thái giao diện.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a5c870af045af">
            <a:extLst>
              <a:ext uri="{96DAC541-7B7A-43D3-8B79-37D633B846F1}">
                <asvg:svgBlip xmlns:asvg="http://schemas.microsoft.com/office/drawing/2016/SVG/main" r:embed="Rccd0193c29c5415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62050" y="39528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520874-FC97-4221-88F0-48C4D69A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052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AF7FA"/>
                </a:solidFill>
                <a:latin typeface="Aptos"/>
                <a:ea typeface="Aptos"/>
                <a:cs typeface="Aptos"/>
              </a:rPr>
              <a:t>Vite 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8A9A5F-9F3F-49C3-9187-305FB0EA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005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FB0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B0BD"/>
                </a:solidFill>
                <a:latin typeface="Aptos"/>
                <a:ea typeface="Aptos"/>
                <a:cs typeface="Aptos"/>
              </a:rPr>
              <a:t>Dev server nhanh, build gọn cho frontend hiện đại.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7471bc07624a7a">
            <a:extLst>
              <a:ext uri="{96DAC541-7B7A-43D3-8B79-37D633B846F1}">
                <asvg:svgBlip xmlns:asvg="http://schemas.microsoft.com/office/drawing/2016/SVG/main" r:embed="Rde14401370a841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62050" y="47148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86857E-80E4-4136-A99D-4A9E22E8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672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AF7FA"/>
                </a:solidFill>
                <a:latin typeface="Aptos"/>
                <a:ea typeface="Aptos"/>
                <a:cs typeface="Aptos"/>
              </a:rPr>
              <a:t>Tailwind 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8B029C-2A89-4BF4-99BA-8C9F77A4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625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FB0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B0BD"/>
                </a:solidFill>
                <a:latin typeface="Aptos"/>
                <a:ea typeface="Aptos"/>
                <a:cs typeface="Aptos"/>
              </a:rPr>
              <a:t>Utility CSS cho giao diện glassmorphism, dark mode, responsive.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C5F557-E8BD-4350-89AD-44B3DE15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857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D1B24">
              <a:alpha val="87059"/>
            </a:srgbClr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731EFE-1FE3-4DD2-817B-BA88813C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52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B7B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9B7BFF"/>
                </a:solidFill>
                <a:latin typeface="Aptos Display"/>
                <a:ea typeface="Aptos Display"/>
                <a:cs typeface="Aptos Display"/>
              </a:rPr>
              <a:t>Tương tác nâng cao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d76ef501d43dc">
            <a:extLst>
              <a:ext uri="{96DAC541-7B7A-43D3-8B79-37D633B846F1}">
                <asvg:svgBlip xmlns:asvg="http://schemas.microsoft.com/office/drawing/2016/SVG/main" r:embed="Rbfb029ec40ee441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38950" y="31908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DDF8CD-D299-4E53-8992-87D7277C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432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AF7FA"/>
                </a:solidFill>
                <a:latin typeface="Aptos"/>
                <a:ea typeface="Aptos"/>
                <a:cs typeface="Aptos"/>
              </a:rPr>
              <a:t>MapLibre GL + react-map-gl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BCED5D-04C6-42A3-9B48-DDD211F8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385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FB0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B0BD"/>
                </a:solidFill>
                <a:latin typeface="Aptos"/>
                <a:ea typeface="Aptos"/>
                <a:cs typeface="Aptos"/>
              </a:rPr>
              <a:t>Render bản đồ vector, cluster, marker, route layer.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3215f95a745fc">
            <a:extLst>
              <a:ext uri="{96DAC541-7B7A-43D3-8B79-37D633B846F1}">
                <asvg:svgBlip xmlns:asvg="http://schemas.microsoft.com/office/drawing/2016/SVG/main" r:embed="Ra0f62f83693e421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38950" y="39528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1197BD-5BC5-4048-AFF2-7B6A0103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052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AF7FA"/>
                </a:solidFill>
                <a:latin typeface="Aptos"/>
                <a:ea typeface="Aptos"/>
                <a:cs typeface="Aptos"/>
              </a:rPr>
              <a:t>Zustand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F94691-8790-4DCF-897D-F9A2DC99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005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FB0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B0BD"/>
                </a:solidFill>
                <a:latin typeface="Aptos"/>
                <a:ea typeface="Aptos"/>
                <a:cs typeface="Aptos"/>
              </a:rPr>
              <a:t>State nhẹ cho locations, social, weather và notification.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f3fc37ebd4300">
            <a:extLst>
              <a:ext uri="{96DAC541-7B7A-43D3-8B79-37D633B846F1}">
                <asvg:svgBlip xmlns:asvg="http://schemas.microsoft.com/office/drawing/2016/SVG/main" r:embed="Ra3e940ae88a9461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38950" y="47148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DBD57D-49FF-4E3B-B29A-8EC68136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672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AF7FA"/>
                </a:solidFill>
                <a:latin typeface="Aptos"/>
                <a:ea typeface="Aptos"/>
                <a:cs typeface="Aptos"/>
              </a:rPr>
              <a:t>Framer Motion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7C4B22-AF44-4A02-A38C-0190BFCE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625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FB0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B0BD"/>
                </a:solidFill>
                <a:latin typeface="Aptos"/>
                <a:ea typeface="Aptos"/>
                <a:cs typeface="Aptos"/>
              </a:rPr>
              <a:t>Micro-interaction, transition và animation cho UX.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323D7C-C29D-489A-9B75-5F8DB1BE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865ABA0-F5F2-4CB7-A3E4-7F8BC34A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93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93A1"/>
                </a:solidFill>
                <a:latin typeface="Aptos"/>
                <a:ea typeface="Aptos"/>
                <a:cs typeface="Aptos"/>
              </a:rPr>
              <a:t>Nguồn: tài liệu dự án AETHER và repository hiện tại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BC8A004-23E4-41F7-905F-D9C363B7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882908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77321B-3594-4458-B486-EF25B529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18"/>
              </a:gs>
              <a:gs pos="62000">
                <a:srgbClr val="0D1B24"/>
              </a:gs>
              <a:gs pos="100000">
                <a:srgbClr val="102A36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2C578-2161-4199-AE3E-243F2C46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AE35C-E79A-4259-8D42-F3CB6989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312E1-8E2A-407F-B019-9F03BDE6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48F472-AA8E-4885-A7D2-D70AB3C4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2C6B4-7A4B-421A-9FAF-C6ADB5BA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7DCB7-FC62-40BE-8569-49E9B534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A6484-09C1-41BC-90B3-7CAAC829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B7C4D-4EBD-4730-B836-81103555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EB538-6089-4F08-BE1F-C2CAF586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0E16BD-BC6C-4D51-B73A-18BF2456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6C121E-3BA8-4F6F-B744-EF325A3E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1212B-FBCB-4668-A26E-60FA99BB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6785E1-B024-4121-BDC6-07D0F1B8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7F6DA9-390F-4274-BB37-60DA687C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85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CBA33-DE4C-43A9-9B5A-42004701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05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652072-32D9-4368-9F65-580F3662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24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2A938D-925C-4DDB-9E19-E07FDA27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3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542923-992D-4D64-AC74-8DEC8CEE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FF5498-ABDE-49F8-9FBA-F39C1E69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FD7195-4A10-4D90-92A0-28178507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05779D0A-C84C-41C2-8D75-EAFBAE9A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ADA08C30-32B2-4C57-B6F3-D9FC64F2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CÔNG NGHỆ BACKEND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5EA835-704F-4634-A54D-FA624848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Backend xử lý xác thực, dữ liệu, realtime và bảo vệ API.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A9DCB4-CD3F-44DA-B32A-2484BE49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495300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0D1B24">
              <a:alpha val="87059"/>
            </a:srgbClr>
          </a:solidFill>
          <a:ln xmlns:a="http://schemas.openxmlformats.org/drawingml/2006/main" w="9525">
            <a:solidFill>
              <a:srgbClr val="55F0A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E8DF97-550A-4911-AAB4-96EEEC34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5F0A6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55F0A6"/>
                </a:solidFill>
                <a:latin typeface="Aptos Display"/>
                <a:ea typeface="Aptos Display"/>
                <a:cs typeface="Aptos Display"/>
              </a:rPr>
              <a:t>API và bảo mật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570781cc984fa2">
            <a:extLst>
              <a:ext uri="{96DAC541-7B7A-43D3-8B79-37D633B846F1}">
                <asvg:svgBlip xmlns:asvg="http://schemas.microsoft.com/office/drawing/2016/SVG/main" r:embed="R19b3dc57a8274c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62050" y="31527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25339D-CA02-457D-98BD-B5E3EEE5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051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AF7FA"/>
                </a:solidFill>
                <a:latin typeface="Aptos"/>
                <a:ea typeface="Aptos"/>
                <a:cs typeface="Aptos"/>
              </a:rPr>
              <a:t>Express 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C7CE7F-E34C-4E4F-8113-82780881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004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FB0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B0BD"/>
                </a:solidFill>
                <a:latin typeface="Aptos"/>
                <a:ea typeface="Aptos"/>
                <a:cs typeface="Aptos"/>
              </a:rPr>
              <a:t>REST API cho locations, social, chatbot, notification.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59abd3ba849c0">
            <a:extLst>
              <a:ext uri="{96DAC541-7B7A-43D3-8B79-37D633B846F1}">
                <asvg:svgBlip xmlns:asvg="http://schemas.microsoft.com/office/drawing/2016/SVG/main" r:embed="R19a88b54f80e4a3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62050" y="39338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AF100B-7B40-4ECC-8CE9-6B30B749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86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AF7FA"/>
                </a:solidFill>
                <a:latin typeface="Aptos"/>
                <a:ea typeface="Aptos"/>
                <a:cs typeface="Aptos"/>
              </a:rPr>
              <a:t>Firebase Auth/Admin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46D4A6-54B7-41E3-9077-32B25E1E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8147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FB0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B0BD"/>
                </a:solidFill>
                <a:latin typeface="Aptos"/>
                <a:ea typeface="Aptos"/>
                <a:cs typeface="Aptos"/>
              </a:rPr>
              <a:t>Xác thực JWT, Google OAuth, kiểm tra người dùng ở backend.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5158e099443eb">
            <a:extLst>
              <a:ext uri="{96DAC541-7B7A-43D3-8B79-37D633B846F1}">
                <asvg:svgBlip xmlns:asvg="http://schemas.microsoft.com/office/drawing/2016/SVG/main" r:embed="Rf1a0494ab8ec4ce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62050" y="47148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4345AC-182B-4D3C-B7B2-68DF65D4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672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AF7FA"/>
                </a:solidFill>
                <a:latin typeface="Aptos"/>
                <a:ea typeface="Aptos"/>
                <a:cs typeface="Aptos"/>
              </a:rPr>
              <a:t>Helmet, CORS, rate limit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BD4049-E14A-438E-97E1-4D9C62DE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625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FB0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B0BD"/>
                </a:solidFill>
                <a:latin typeface="Aptos"/>
                <a:ea typeface="Aptos"/>
                <a:cs typeface="Aptos"/>
              </a:rPr>
              <a:t>Giảm rủi ro API, giới hạn request và kiểm soát origin.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522D18-9C80-4907-AABE-F47A702A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495300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0D1B24">
              <a:alpha val="87059"/>
            </a:srgbClr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ED7587-D22A-44D7-A2A0-C08E77FB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rPr>
              <a:t>Dữ liệu và hiệu năng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5659374724221">
            <a:extLst>
              <a:ext uri="{96DAC541-7B7A-43D3-8B79-37D633B846F1}">
                <asvg:svgBlip xmlns:asvg="http://schemas.microsoft.com/office/drawing/2016/SVG/main" r:embed="R949166be28f348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762750" y="31527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455AFD-EC14-4B7F-9155-6717A1A4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051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AF7FA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DECF76-2F6C-46BB-912B-8D4B04B3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004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FB0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B0BD"/>
                </a:solidFill>
                <a:latin typeface="Aptos"/>
                <a:ea typeface="Aptos"/>
                <a:cs typeface="Aptos"/>
              </a:rPr>
              <a:t>Lưu location, user, comment, follow, message và achievement.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20a1d72e64603">
            <a:extLst>
              <a:ext uri="{96DAC541-7B7A-43D3-8B79-37D633B846F1}">
                <asvg:svgBlip xmlns:asvg="http://schemas.microsoft.com/office/drawing/2016/SVG/main" r:embed="Raf7a46e3767c4d7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762750" y="39338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D19BE8-2612-47EC-A636-930D5060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AF7FA"/>
                </a:solidFill>
                <a:latin typeface="Aptos"/>
                <a:ea typeface="Aptos"/>
                <a:cs typeface="Aptos"/>
              </a:rPr>
              <a:t>Server-Sent Events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135543-4E79-41DA-94E1-9445F2CF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8147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FB0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B0BD"/>
                </a:solidFill>
                <a:latin typeface="Aptos"/>
                <a:ea typeface="Aptos"/>
                <a:cs typeface="Aptos"/>
              </a:rPr>
              <a:t>Đẩy thông báo realtime mà không cần polling liên tục.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2476dbb224c08">
            <a:extLst>
              <a:ext uri="{96DAC541-7B7A-43D3-8B79-37D633B846F1}">
                <asvg:svgBlip xmlns:asvg="http://schemas.microsoft.com/office/drawing/2016/SVG/main" r:embed="Rc26d15a0becf469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762750" y="47148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A60979-4B2A-4E01-905B-BECD3CF4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672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AF7FA"/>
                </a:solidFill>
                <a:latin typeface="Aptos"/>
                <a:ea typeface="Aptos"/>
                <a:cs typeface="Aptos"/>
              </a:rPr>
              <a:t>Pagination + cache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3971A5-88BA-489C-ADAA-935EE8C6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625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FB0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FB0BD"/>
                </a:solidFill>
                <a:latin typeface="Aptos"/>
                <a:ea typeface="Aptos"/>
                <a:cs typeface="Aptos"/>
              </a:rPr>
              <a:t>Giảm payload, giảm API calls và cải thiện tốc độ pan bản đồ.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C314EE-FBEC-484C-87DB-5E45BF91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D71ADA-9705-4271-B4C1-64C3B11D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93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93A1"/>
                </a:solidFill>
                <a:latin typeface="Aptos"/>
                <a:ea typeface="Aptos"/>
                <a:cs typeface="Aptos"/>
              </a:rPr>
              <a:t>Nguồn: tài liệu dự án AETHER và repository hiện tại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2679721-1796-4134-87A1-C5DE3C41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032517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D1CFD8-4168-4CF6-9492-D9AA2610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18"/>
              </a:gs>
              <a:gs pos="62000">
                <a:srgbClr val="0D1B24"/>
              </a:gs>
              <a:gs pos="100000">
                <a:srgbClr val="102A36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E6787-9122-4B85-8BAE-6A6260D6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10E6F-B0DB-4FF7-8A49-1099A668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2B2DD-0FDC-4E15-8E31-910F7285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7D3A3-4FAD-46F2-8BBE-2BAC0F1C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FBEE2-94FE-4D45-92EE-100600E3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DB027-D880-486F-85EF-B4C5A262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98CBC-2E6A-4563-8039-656E2873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02924-5506-4BCA-BD12-A330BA1B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42607E-D403-4C25-AA72-150C4B72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5A121-DB58-4972-B135-D03BA083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F2605-B507-4FC2-89AB-F18A0BA2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2712A-028C-4F45-9BCA-2806D39D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BEA602-7551-48B7-89F4-31D3E48E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E8C39-0E2F-4D85-AD80-B30E41C2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85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52801A-0F89-4F53-9165-7FA13E7A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05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CAB93B-C1CB-4B51-B028-7801E892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24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8BA274-60E8-4071-9F89-FF3F67D7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3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A87ED5-659B-4D23-913F-A46587D5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313158-6666-4133-B3DA-B5E0E169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D0FDF0-6291-41DD-8726-6B47BD89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98C2B7A7-63CB-4EF6-BF09-52795699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1DB1C9BA-EE28-4CC1-ADA8-44224797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TÍCH HỢP DỊCH VỤ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16603F-1FA8-4B93-B4B7-6DF95190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Các API ngoài được dùng để làm trải nghiệm địa điểm thông minh hơn.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AFBB0F-5468-4C5A-89EE-EAACEF96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05050"/>
            <a:ext cx="9334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D1B24">
              <a:alpha val="87059"/>
            </a:srgbClr>
          </a:solidFill>
          <a:ln xmlns:a="http://schemas.openxmlformats.org/drawingml/2006/main" w="9525">
            <a:solidFill>
              <a:srgbClr val="00E5F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1ac125e514e7c">
            <a:extLst>
              <a:ext uri="{96DAC541-7B7A-43D3-8B79-37D633B846F1}">
                <asvg:svgBlip xmlns:asvg="http://schemas.microsoft.com/office/drawing/2016/SVG/main" r:embed="Rfc38ec932f9f45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752600" y="24955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592F7D-55AD-4CB1-AB1F-563B9535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384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E5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0E5FF"/>
                </a:solidFill>
                <a:latin typeface="Aptos Display"/>
                <a:ea typeface="Aptos Display"/>
                <a:cs typeface="Aptos Display"/>
              </a:rPr>
              <a:t>Goong Maps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D99565-6AE7-40CD-9DAA-DC5630D9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955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Bản đồ Việt Nam, geocoding, routing và dữ liệu nền cho MapLibre.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4F47C4-DEEE-405B-B5E2-3133A2E2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9334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D1B24">
              <a:alpha val="87059"/>
            </a:srgbClr>
          </a:solidFill>
          <a:ln xmlns:a="http://schemas.openxmlformats.org/drawingml/2006/main" w="9525">
            <a:solidFill>
              <a:srgbClr val="55F0A6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a33bad655445b">
            <a:extLst>
              <a:ext uri="{96DAC541-7B7A-43D3-8B79-37D633B846F1}">
                <asvg:svgBlip xmlns:asvg="http://schemas.microsoft.com/office/drawing/2016/SVG/main" r:embed="R63f751d0bc964ee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752600" y="33718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E5D97C-73EC-4F31-9C6F-8594166E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147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F0A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55F0A6"/>
                </a:solidFill>
                <a:latin typeface="Aptos Display"/>
                <a:ea typeface="Aptos Display"/>
                <a:cs typeface="Aptos Display"/>
              </a:rPr>
              <a:t>OpenWeather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82DB8F-6A67-48BA-8CB0-69D0C683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718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Dữ liệu thời tiết realtime và các lớp mưa, mây, gió, nhiệt độ.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E76871-B92C-4EDD-837D-53D54EA8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57650"/>
            <a:ext cx="9334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D1B24">
              <a:alpha val="87059"/>
            </a:srgbClr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7aab9afb34dc6">
            <a:extLst>
              <a:ext uri="{96DAC541-7B7A-43D3-8B79-37D633B846F1}">
                <asvg:svgBlip xmlns:asvg="http://schemas.microsoft.com/office/drawing/2016/SVG/main" r:embed="Rabca12d5130d4cd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752600" y="42481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50E0E1-B08C-4584-AB7C-E2C7DB5C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910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B7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9B7BFF"/>
                </a:solidFill>
                <a:latin typeface="Aptos Display"/>
                <a:ea typeface="Aptos Display"/>
                <a:cs typeface="Aptos Display"/>
              </a:rPr>
              <a:t>Gemini AI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AFD111-1505-4D9E-9943-58B22A73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481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Trợ lý EVE hiểu ngữ cảnh để gợi ý địa điểm và lịch trình.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6AFCB2-9BBD-49FA-9E89-651C9084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33950"/>
            <a:ext cx="9334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D1B24">
              <a:alpha val="87059"/>
            </a:srgbClr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d628de79c4c3c">
            <a:extLst>
              <a:ext uri="{96DAC541-7B7A-43D3-8B79-37D633B846F1}">
                <asvg:svgBlip xmlns:asvg="http://schemas.microsoft.com/office/drawing/2016/SVG/main" r:embed="R9f542ba808ea43e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752600" y="51244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339095-F7DC-4882-AABF-C9DDAB5A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673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rPr>
              <a:t>Firebase Storage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91623A-3A44-4FE9-B372-F37C6423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244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Lưu trữ hình ảnh địa điểm và nội dung do người dùng đăng.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0745FF-551F-4E2E-83E2-0925C6B1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8293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8FB0B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8FB0BD"/>
                </a:solidFill>
                <a:latin typeface="Aptos"/>
                <a:ea typeface="Aptos"/>
                <a:cs typeface="Aptos"/>
              </a:rPr>
              <a:t>Vai trò: các dịch vụ này không đứng riêng lẻ; chúng cung cấp ngữ cảnh cho bản đồ, AI và social loop.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677ADC-CCC7-4D74-9B4D-B4D4B8EC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ABF437-1154-405C-9103-CE44B083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93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93A1"/>
                </a:solidFill>
                <a:latin typeface="Aptos"/>
                <a:ea typeface="Aptos"/>
                <a:cs typeface="Aptos"/>
              </a:rPr>
              <a:t>Nguồn: tài liệu dự án AETHER và repository hiện tại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AEB111-D35B-49DA-A125-E1A629F8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425744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C8A934-C480-4186-95E7-2C7C1FA0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18"/>
              </a:gs>
              <a:gs pos="62000">
                <a:srgbClr val="0D1B24"/>
              </a:gs>
              <a:gs pos="100000">
                <a:srgbClr val="102A36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A3344-35AA-4F9F-8D53-629D3434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C055B-7EAE-4E60-B39D-9481E74F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AE0FB-6733-491F-9513-F3C5E890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FE076-8DC1-46AC-A3C1-97191187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62F2A-801C-4F2A-A38E-C611FC45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5BCDE-7BE1-40EC-AED0-866C2A5C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CA859-BEC0-45D9-85FC-52FB5AD1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EB6C1-BD6D-41DF-A679-C87FB664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5DBDC-3DA7-454E-9B46-4111C01C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AC728A-6585-441D-A382-792168C8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4BFEB-772B-4CCA-A277-1DBF4320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22347-169E-402C-B18D-7A5A5A1C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45EF8-6BFF-49C9-973F-2ED8FC7C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947C5C-82A5-4E92-9712-78D8546B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85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028C8F-488F-498C-A50B-CC5CE824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05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5C89FF-B6FA-48EC-BAB5-CDA12E5A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24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78EEE7-C793-4A66-9C36-C5DBD6EA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3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638956-121E-44AC-8E53-728A597E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076129-5C47-45E4-8BFD-730F88BE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AB9D54-C619-4A25-926A-4F3A8831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09F391F5-E6F5-4915-8892-657F760B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89B72190-7D38-4289-87B8-39F5C910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KIẾN TRÚC TỔNG QUAN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9E7A1A-E88E-4234-8EF6-802C329D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Hệ thống được chia theo lớp rõ ràng để dễ mở rộng.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469BE7-AD2B-485E-A9A8-862D4806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9906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1B24">
              <a:alpha val="87059"/>
            </a:srgbClr>
          </a:solidFill>
          <a:ln xmlns:a="http://schemas.openxmlformats.org/drawingml/2006/main" w="9525">
            <a:solidFill>
              <a:srgbClr val="00E5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B56C43-2323-404F-A3E3-686CD8A2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669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E5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0E5FF"/>
                </a:solidFill>
                <a:latin typeface="Aptos Display"/>
                <a:ea typeface="Aptos Display"/>
                <a:cs typeface="Aptos Display"/>
              </a:rPr>
              <a:t>Frontend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710421-23C7-41F3-BBD8-C3463FE4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52675"/>
            <a:ext cx="628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React, Vite, MapLibre, Zustand, Tailwind, Framer Motion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82D925-C4B7-48CA-A739-8EC8391B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9906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1B24">
              <a:alpha val="87059"/>
            </a:srgbClr>
          </a:solidFill>
          <a:ln xmlns:a="http://schemas.openxmlformats.org/drawingml/2006/main" w="9525">
            <a:solidFill>
              <a:srgbClr val="55F0A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F11E0A-491C-47AA-B6E7-838819CF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480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5F0A6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55F0A6"/>
                </a:solidFill>
                <a:latin typeface="Aptos Display"/>
                <a:ea typeface="Aptos Display"/>
                <a:cs typeface="Aptos Display"/>
              </a:rPr>
              <a:t>Backend 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2E1762-D661-4792-8CB0-62E4FF5F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33775"/>
            <a:ext cx="628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Express, Auth middleware, Location/Social/AI/Notification services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9FAEEA-1048-4189-9CC8-0B5A60EF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9906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1B24">
              <a:alpha val="87059"/>
            </a:srgbClr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D42891-1D39-4542-B21E-03E33EAD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291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rPr>
              <a:t>Dữ liệu &amp; API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3B2948-B646-4015-B23A-7D959E4A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14875"/>
            <a:ext cx="628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PostgreSQL, Goong Maps, OpenWeather, Gemini, Firebase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446CFA-5480-4EC5-9C3E-054DCB46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89560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37EDB8-E689-421E-BA0C-9132173E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7670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F0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F1A755-9D47-4BAC-9EDF-875457D6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562600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018">
              <a:alpha val="80000"/>
            </a:srgbClr>
          </a:solidFill>
          <a:ln xmlns:a="http://schemas.openxmlformats.org/drawingml/2006/main" w="9525">
            <a:solidFill>
              <a:srgbClr val="00E5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176246-AA22-4F6E-8794-95908E51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6769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map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13016E-7F89-453B-A408-DB8348AC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562600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018">
              <a:alpha val="80000"/>
            </a:srgbClr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2BBB3B-9700-463A-A184-903005BE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6769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B7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B7BFF"/>
                </a:solidFill>
                <a:latin typeface="Aptos"/>
                <a:ea typeface="Aptos"/>
                <a:cs typeface="Aptos"/>
              </a:rPr>
              <a:t>chatbot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991BE1-1098-4D5A-9609-8788024C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562600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018">
              <a:alpha val="80000"/>
            </a:srgbClr>
          </a:solidFill>
          <a:ln xmlns:a="http://schemas.openxmlformats.org/drawingml/2006/main" w="9525">
            <a:solidFill>
              <a:srgbClr val="55F0A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85241E-E5BF-4C57-A547-FDBB3F8C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6769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5F0A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F0A6"/>
                </a:solidFill>
                <a:latin typeface="Aptos"/>
                <a:ea typeface="Aptos"/>
                <a:cs typeface="Aptos"/>
              </a:rPr>
              <a:t>discovery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678BA0-C96D-40A6-8596-5246D6C5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62600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018">
              <a:alpha val="80000"/>
            </a:srgbClr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CF4A3A-3B81-429C-97D4-11C21FFA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769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profile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05E9DE-FD5E-46F0-8B83-4763EE67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562600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018">
              <a:alpha val="80000"/>
            </a:srgbClr>
          </a:solidFill>
          <a:ln xmlns:a="http://schemas.openxmlformats.org/drawingml/2006/main" w="9525">
            <a:solidFill>
              <a:srgbClr val="00E5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2CB938-13E8-44B3-9B0A-AFCC3F50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6769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notifications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F51EF9-18EB-4A84-B95B-40D65CFB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D87E69-71EE-4AFD-908D-5F80325D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93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93A1"/>
                </a:solidFill>
                <a:latin typeface="Aptos"/>
                <a:ea typeface="Aptos"/>
                <a:cs typeface="Aptos"/>
              </a:rPr>
              <a:t>Nguồn: tài liệu dự án AETHER và repository hiện tại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140023-8E4E-49E3-BA2B-B5093D74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5405592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741BE8-5897-4CF3-AA4D-5F3A781E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18"/>
              </a:gs>
              <a:gs pos="62000">
                <a:srgbClr val="0D1B24"/>
              </a:gs>
              <a:gs pos="100000">
                <a:srgbClr val="102A36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F206B-002D-4035-868A-9F5A0039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90E05-4E21-47C0-8A1D-332CE8A1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5AB18-2ADC-445D-80CD-87918EDE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BD99A-9CD3-49F5-BD48-20F86D7B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9D5F5-25A7-48E2-9F28-B738369B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13D73-8533-4CB9-A3C7-0285FBE4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7986B-47BA-4685-876A-3C9708F6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B181A-14E3-49F0-A438-F40FD26B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1D0A5-AC46-47CC-8DD7-41137BB6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6B83A-EE98-46DB-867E-CCD4293E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B27CD-A196-476E-A2A0-D0C28BC7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E35DB0-F509-4398-AF9E-4AD90669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4837BE-B198-412D-B98B-B9D0F2F4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65ABFA-5A5B-4C97-B722-8F20C4DB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85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15895F-AA1A-4123-8B8A-24BAD4A7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05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6D3596-147F-49BB-B6A0-6B5A8759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24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89CE52-47C4-415A-971E-7FEA0640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33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C142C5-F02C-4171-9563-37EA66A9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6D7AF6-DF98-430E-836D-3EAD065D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255ADC-E86A-4837-BC04-FA44B5D7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1AC2E4F6-548C-4622-A256-15A373F7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C0CADF35-7921-4308-8D01-50221BDD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TRÌNH BÀY DEMO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406EA9-0D34-47AE-9AC8-822EF2BD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Kết bài nên chứng minh ý tưởng bằng một luồng demo ngắn.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C9C25D-181C-4858-BB96-CA7EAE9E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23812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0D1B24">
              <a:alpha val="87059"/>
            </a:srgbClr>
          </a:solidFill>
          <a:ln xmlns:a="http://schemas.openxmlformats.org/drawingml/2006/main" w="9525">
            <a:solidFill>
              <a:srgbClr val="00E5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1C5ADD-0514-4FED-9217-112DB695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765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60666F-D2A7-4653-9348-E1378165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Mở website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544284-ACE0-4B9B-978C-3AA1722A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1857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B0B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FB0BD"/>
                </a:solidFill>
                <a:latin typeface="Aptos"/>
                <a:ea typeface="Aptos"/>
                <a:cs typeface="Aptos"/>
              </a:rPr>
              <a:t>Hiện bản đồ, vị trí, marker và lớp thời tiết.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66C442-1025-4BEB-B15C-33D300D6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47950"/>
            <a:ext cx="23812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0D1B24">
              <a:alpha val="87059"/>
            </a:srgbClr>
          </a:solidFill>
          <a:ln xmlns:a="http://schemas.openxmlformats.org/drawingml/2006/main" w="9525">
            <a:solidFill>
              <a:srgbClr val="55F0A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9FA774-B565-432F-A479-96E00A74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765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5F0A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5F0A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D98ED2-1BED-43CD-9352-777F97E2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099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Thêm địa điểm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1B6AA6-E7A6-48D8-ADFE-E1DC7DDB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24300"/>
            <a:ext cx="1857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B0B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FB0BD"/>
                </a:solidFill>
                <a:latin typeface="Aptos"/>
                <a:ea typeface="Aptos"/>
                <a:cs typeface="Aptos"/>
              </a:rPr>
              <a:t>Đăng ảnh, tag, review; địa điểm xuất hiện trên map.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4939BC-4ABC-4EEF-B11D-FB554C8E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23812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0D1B24">
              <a:alpha val="87059"/>
            </a:srgbClr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F6161D-993F-48BC-8CDA-3C660EC0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765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B7B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9B7B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89B47A-A238-42CC-AB43-61E42A4D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Hỏi EVE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ECAF73-6719-4F4C-AF45-D45B7835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24300"/>
            <a:ext cx="1857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B0B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FB0BD"/>
                </a:solidFill>
                <a:latin typeface="Aptos"/>
                <a:ea typeface="Aptos"/>
                <a:cs typeface="Aptos"/>
              </a:rPr>
              <a:t>Yêu cầu lịch trình, AI đề xuất và vẽ route.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5FECBB-61FA-46EE-B0AA-8AADEE1D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47950"/>
            <a:ext cx="23812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0D1B24">
              <a:alpha val="87059"/>
            </a:srgbClr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E13B72-F44D-4B5C-99FE-A2F6E280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765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5157B8-E641-442F-ADB7-1647D58C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099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Tương tác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CD5DA4-37FD-4E3D-AC5D-593A51A8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24300"/>
            <a:ext cx="1857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B0B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FB0BD"/>
                </a:solidFill>
                <a:latin typeface="Aptos"/>
                <a:ea typeface="Aptos"/>
                <a:cs typeface="Aptos"/>
              </a:rPr>
              <a:t>Like, comment, follow; thông báo realtime và XP cập nhật.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D5860C-3E58-4F94-9D67-6A29D3F6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19700"/>
            <a:ext cx="89916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71018">
              <a:alpha val="84706"/>
            </a:srgbClr>
          </a:solidFill>
          <a:ln xmlns:a="http://schemas.openxmlformats.org/drawingml/2006/main" w="9525">
            <a:solidFill>
              <a:srgbClr val="00E5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961771-20EA-4551-B626-9FA84F3E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14950"/>
            <a:ext cx="8286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Điểm nhấn cần nói rõ: AETHER là ý tưởng kết hợp sản phẩm, thiết kế và kỹ thuật - bản đồ làm trung tâm, AI làm trợ lý, realtime và gamification tạo lý do quay lại.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98478C-7F26-4347-82A4-144F8AC7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770941-9594-41BD-A823-25ABFFD6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47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93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93A1"/>
                </a:solidFill>
                <a:latin typeface="Aptos"/>
                <a:ea typeface="Aptos"/>
                <a:cs typeface="Aptos"/>
              </a:rPr>
              <a:t>Nguồn: tài liệu dự án AETHER và repository hiện tại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2D53ED-376D-43DE-9E30-8C93512E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3890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589874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2026-05-15T14:10:08.5590000Z</dcterms:created>
  <dcterms:modified xsi:type="dcterms:W3CDTF">2026-05-15T14:10:08.5590000Z</dcterms:modified>
</coreProperties>
</file>